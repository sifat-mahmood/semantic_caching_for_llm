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ricolage Grotesque Bold" charset="1" panose="020B0605040402000204"/>
      <p:regular r:id="rId18"/>
    </p:embeddedFont>
    <p:embeddedFont>
      <p:font typeface="Aileron Italics" charset="1" panose="00000500000000000000"/>
      <p:regular r:id="rId19"/>
    </p:embeddedFont>
    <p:embeddedFont>
      <p:font typeface="Aileron" charset="1" panose="00000500000000000000"/>
      <p:regular r:id="rId20"/>
    </p:embeddedFont>
    <p:embeddedFont>
      <p:font typeface="Aileron Bold" charset="1" panose="000008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 Italics" charset="1" panose="020B0503030501040103"/>
      <p:regular r:id="rId23"/>
    </p:embeddedFont>
    <p:embeddedFont>
      <p:font typeface="Aileron Bold Italics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14118">
            <a:off x="-2046524" y="3776605"/>
            <a:ext cx="7730547" cy="8766599"/>
          </a:xfrm>
          <a:custGeom>
            <a:avLst/>
            <a:gdLst/>
            <a:ahLst/>
            <a:cxnLst/>
            <a:rect r="r" b="b" t="t" l="l"/>
            <a:pathLst>
              <a:path h="8766599" w="7730547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3968" y="2485836"/>
            <a:ext cx="9933191" cy="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4"/>
              </a:lnSpc>
            </a:pPr>
            <a:r>
              <a:rPr lang="en-US" sz="3917" spc="-50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SYSTEMATIC LITERATURE REVIEW</a:t>
            </a:r>
          </a:p>
          <a:p>
            <a:pPr algn="l" marL="0" indent="0" lvl="0">
              <a:lnSpc>
                <a:spcPts val="10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5262638">
            <a:off x="-2056903" y="5761004"/>
            <a:ext cx="7431557" cy="7772988"/>
          </a:xfrm>
          <a:custGeom>
            <a:avLst/>
            <a:gdLst/>
            <a:ahLst/>
            <a:cxnLst/>
            <a:rect r="r" b="b" t="t" l="l"/>
            <a:pathLst>
              <a:path h="7772988" w="7431557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945290" y="5583157"/>
            <a:ext cx="12397420" cy="929247"/>
            <a:chOff x="0" y="0"/>
            <a:chExt cx="3265164" cy="244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65164" cy="244740"/>
            </a:xfrm>
            <a:custGeom>
              <a:avLst/>
              <a:gdLst/>
              <a:ahLst/>
              <a:cxnLst/>
              <a:rect r="r" b="b" t="t" l="l"/>
              <a:pathLst>
                <a:path h="244740" w="3265164">
                  <a:moveTo>
                    <a:pt x="62448" y="0"/>
                  </a:moveTo>
                  <a:lnTo>
                    <a:pt x="3202717" y="0"/>
                  </a:lnTo>
                  <a:cubicBezTo>
                    <a:pt x="3219279" y="0"/>
                    <a:pt x="3235162" y="6579"/>
                    <a:pt x="3246874" y="18291"/>
                  </a:cubicBezTo>
                  <a:cubicBezTo>
                    <a:pt x="3258585" y="30002"/>
                    <a:pt x="3265164" y="45886"/>
                    <a:pt x="3265164" y="62448"/>
                  </a:cubicBezTo>
                  <a:lnTo>
                    <a:pt x="3265164" y="182292"/>
                  </a:lnTo>
                  <a:cubicBezTo>
                    <a:pt x="3265164" y="216781"/>
                    <a:pt x="3237206" y="244740"/>
                    <a:pt x="3202717" y="244740"/>
                  </a:cubicBezTo>
                  <a:lnTo>
                    <a:pt x="62448" y="244740"/>
                  </a:lnTo>
                  <a:cubicBezTo>
                    <a:pt x="45886" y="244740"/>
                    <a:pt x="30002" y="238161"/>
                    <a:pt x="18291" y="226449"/>
                  </a:cubicBezTo>
                  <a:cubicBezTo>
                    <a:pt x="6579" y="214738"/>
                    <a:pt x="0" y="198854"/>
                    <a:pt x="0" y="182292"/>
                  </a:cubicBezTo>
                  <a:lnTo>
                    <a:pt x="0" y="62448"/>
                  </a:lnTo>
                  <a:cubicBezTo>
                    <a:pt x="0" y="45886"/>
                    <a:pt x="6579" y="30002"/>
                    <a:pt x="18291" y="18291"/>
                  </a:cubicBezTo>
                  <a:cubicBezTo>
                    <a:pt x="30002" y="6579"/>
                    <a:pt x="45886" y="0"/>
                    <a:pt x="6244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65164" cy="282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0291582">
            <a:off x="13362814" y="-1610267"/>
            <a:ext cx="6287330" cy="7129962"/>
          </a:xfrm>
          <a:custGeom>
            <a:avLst/>
            <a:gdLst/>
            <a:ahLst/>
            <a:cxnLst/>
            <a:rect r="r" b="b" t="t" l="l"/>
            <a:pathLst>
              <a:path h="7129962" w="6287330">
                <a:moveTo>
                  <a:pt x="0" y="0"/>
                </a:moveTo>
                <a:lnTo>
                  <a:pt x="6287330" y="0"/>
                </a:lnTo>
                <a:lnTo>
                  <a:pt x="6287330" y="7129962"/>
                </a:lnTo>
                <a:lnTo>
                  <a:pt x="0" y="7129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3968" y="3347384"/>
            <a:ext cx="15675332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90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Semantic Caching for LLM Inference</a:t>
            </a:r>
          </a:p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269956" y="5865159"/>
            <a:ext cx="12142765" cy="73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1"/>
              </a:lnSpc>
            </a:pPr>
            <a:r>
              <a:rPr lang="en-US" sz="3146" i="true">
                <a:solidFill>
                  <a:srgbClr val="377272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A Systematic Literature Review — 87 records screened to 66 papers</a:t>
            </a:r>
          </a:p>
          <a:p>
            <a:pPr algn="just" marL="0" indent="0" lvl="0">
              <a:lnSpc>
                <a:spcPts val="2831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406567" y="9445008"/>
            <a:ext cx="1726777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599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ID: 2022-3-60-052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06567" y="8942089"/>
            <a:ext cx="2425086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Kaniz Reza Mithila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24044" y="8942089"/>
            <a:ext cx="3071020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Khaled Mahmood Sifat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24044" y="9443663"/>
            <a:ext cx="1726777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599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ID: 2022-3-60-217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85839" y="8942089"/>
            <a:ext cx="3071020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Redwan Ahmed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5839" y="9445008"/>
            <a:ext cx="1726777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599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ID: 2022-3-60-155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01486">
            <a:off x="12290109" y="1248869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14542">
            <a:off x="-4124265" y="-315167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6" y="0"/>
                </a:lnTo>
                <a:lnTo>
                  <a:pt x="9368656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144654"/>
            <a:ext cx="7375813" cy="4236721"/>
            <a:chOff x="0" y="0"/>
            <a:chExt cx="1942601" cy="1115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42601" cy="1115844"/>
            </a:xfrm>
            <a:custGeom>
              <a:avLst/>
              <a:gdLst/>
              <a:ahLst/>
              <a:cxnLst/>
              <a:rect r="r" b="b" t="t" l="l"/>
              <a:pathLst>
                <a:path h="1115844" w="1942601">
                  <a:moveTo>
                    <a:pt x="31489" y="0"/>
                  </a:moveTo>
                  <a:lnTo>
                    <a:pt x="1911112" y="0"/>
                  </a:lnTo>
                  <a:cubicBezTo>
                    <a:pt x="1928503" y="0"/>
                    <a:pt x="1942601" y="14098"/>
                    <a:pt x="1942601" y="31489"/>
                  </a:cubicBezTo>
                  <a:lnTo>
                    <a:pt x="1942601" y="1084355"/>
                  </a:lnTo>
                  <a:cubicBezTo>
                    <a:pt x="1942601" y="1101746"/>
                    <a:pt x="1928503" y="1115844"/>
                    <a:pt x="1911112" y="1115844"/>
                  </a:cubicBezTo>
                  <a:lnTo>
                    <a:pt x="31489" y="1115844"/>
                  </a:lnTo>
                  <a:cubicBezTo>
                    <a:pt x="14098" y="1115844"/>
                    <a:pt x="0" y="1101746"/>
                    <a:pt x="0" y="1084355"/>
                  </a:cubicBezTo>
                  <a:lnTo>
                    <a:pt x="0" y="31489"/>
                  </a:lnTo>
                  <a:cubicBezTo>
                    <a:pt x="0" y="14098"/>
                    <a:pt x="14098" y="0"/>
                    <a:pt x="3148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42601" cy="1153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17989" y="2223747"/>
            <a:ext cx="14852023" cy="116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7"/>
              </a:lnSpc>
            </a:pPr>
            <a:r>
              <a:rPr lang="en-US" b="true" sz="4801" spc="-62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LLM inference recomputes everything, every time</a:t>
            </a:r>
          </a:p>
          <a:p>
            <a:pPr algn="ctr" marL="0" indent="0" lvl="0">
              <a:lnSpc>
                <a:spcPts val="4417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670073">
            <a:off x="14060831" y="-2197165"/>
            <a:ext cx="6016318" cy="6822629"/>
          </a:xfrm>
          <a:custGeom>
            <a:avLst/>
            <a:gdLst/>
            <a:ahLst/>
            <a:cxnLst/>
            <a:rect r="r" b="b" t="t" l="l"/>
            <a:pathLst>
              <a:path h="6822629" w="6016318">
                <a:moveTo>
                  <a:pt x="0" y="0"/>
                </a:moveTo>
                <a:lnTo>
                  <a:pt x="6016318" y="0"/>
                </a:lnTo>
                <a:lnTo>
                  <a:pt x="6016318" y="6822628"/>
                </a:lnTo>
                <a:lnTo>
                  <a:pt x="0" y="6822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9965" y="1429299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284950" y="4079734"/>
            <a:ext cx="3399109" cy="1488624"/>
            <a:chOff x="0" y="0"/>
            <a:chExt cx="895239" cy="3920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5239" cy="392066"/>
            </a:xfrm>
            <a:custGeom>
              <a:avLst/>
              <a:gdLst/>
              <a:ahLst/>
              <a:cxnLst/>
              <a:rect r="r" b="b" t="t" l="l"/>
              <a:pathLst>
                <a:path h="392066" w="895239">
                  <a:moveTo>
                    <a:pt x="59218" y="0"/>
                  </a:moveTo>
                  <a:lnTo>
                    <a:pt x="836020" y="0"/>
                  </a:lnTo>
                  <a:cubicBezTo>
                    <a:pt x="851726" y="0"/>
                    <a:pt x="866788" y="6239"/>
                    <a:pt x="877894" y="17345"/>
                  </a:cubicBezTo>
                  <a:cubicBezTo>
                    <a:pt x="889000" y="28450"/>
                    <a:pt x="895239" y="43513"/>
                    <a:pt x="895239" y="59218"/>
                  </a:cubicBezTo>
                  <a:lnTo>
                    <a:pt x="895239" y="332847"/>
                  </a:lnTo>
                  <a:cubicBezTo>
                    <a:pt x="895239" y="348553"/>
                    <a:pt x="889000" y="363615"/>
                    <a:pt x="877894" y="374721"/>
                  </a:cubicBezTo>
                  <a:cubicBezTo>
                    <a:pt x="866788" y="385826"/>
                    <a:pt x="851726" y="392066"/>
                    <a:pt x="836020" y="392066"/>
                  </a:cubicBezTo>
                  <a:lnTo>
                    <a:pt x="59218" y="392066"/>
                  </a:lnTo>
                  <a:cubicBezTo>
                    <a:pt x="43513" y="392066"/>
                    <a:pt x="28450" y="385826"/>
                    <a:pt x="17345" y="374721"/>
                  </a:cubicBezTo>
                  <a:cubicBezTo>
                    <a:pt x="6239" y="363615"/>
                    <a:pt x="0" y="348553"/>
                    <a:pt x="0" y="332847"/>
                  </a:cubicBezTo>
                  <a:lnTo>
                    <a:pt x="0" y="59218"/>
                  </a:lnTo>
                  <a:cubicBezTo>
                    <a:pt x="0" y="43513"/>
                    <a:pt x="6239" y="28450"/>
                    <a:pt x="17345" y="17345"/>
                  </a:cubicBezTo>
                  <a:cubicBezTo>
                    <a:pt x="28450" y="6239"/>
                    <a:pt x="43513" y="0"/>
                    <a:pt x="59218" y="0"/>
                  </a:cubicBezTo>
                  <a:close/>
                </a:path>
              </a:pathLst>
            </a:custGeom>
            <a:solidFill>
              <a:srgbClr val="EFF0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95239" cy="430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Repeated Query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2167" y="6263014"/>
            <a:ext cx="3086100" cy="909350"/>
            <a:chOff x="0" y="0"/>
            <a:chExt cx="812800" cy="239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239499"/>
            </a:xfrm>
            <a:custGeom>
              <a:avLst/>
              <a:gdLst/>
              <a:ahLst/>
              <a:cxnLst/>
              <a:rect r="r" b="b" t="t" l="l"/>
              <a:pathLst>
                <a:path h="239499" w="812800">
                  <a:moveTo>
                    <a:pt x="52681" y="0"/>
                  </a:moveTo>
                  <a:lnTo>
                    <a:pt x="760119" y="0"/>
                  </a:lnTo>
                  <a:cubicBezTo>
                    <a:pt x="789214" y="0"/>
                    <a:pt x="812800" y="23586"/>
                    <a:pt x="812800" y="52681"/>
                  </a:cubicBezTo>
                  <a:lnTo>
                    <a:pt x="812800" y="186818"/>
                  </a:lnTo>
                  <a:cubicBezTo>
                    <a:pt x="812800" y="215913"/>
                    <a:pt x="789214" y="239499"/>
                    <a:pt x="760119" y="239499"/>
                  </a:cubicBezTo>
                  <a:lnTo>
                    <a:pt x="52681" y="239499"/>
                  </a:lnTo>
                  <a:cubicBezTo>
                    <a:pt x="23586" y="239499"/>
                    <a:pt x="0" y="215913"/>
                    <a:pt x="0" y="186818"/>
                  </a:cubicBezTo>
                  <a:lnTo>
                    <a:pt x="0" y="52681"/>
                  </a:lnTo>
                  <a:cubicBezTo>
                    <a:pt x="0" y="23586"/>
                    <a:pt x="23586" y="0"/>
                    <a:pt x="52681" y="0"/>
                  </a:cubicBezTo>
                  <a:close/>
                </a:path>
              </a:pathLst>
            </a:custGeom>
            <a:solidFill>
              <a:srgbClr val="569B9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277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Cache Hit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55271" y="6283998"/>
            <a:ext cx="3086100" cy="909350"/>
            <a:chOff x="0" y="0"/>
            <a:chExt cx="812800" cy="2394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239499"/>
            </a:xfrm>
            <a:custGeom>
              <a:avLst/>
              <a:gdLst/>
              <a:ahLst/>
              <a:cxnLst/>
              <a:rect r="r" b="b" t="t" l="l"/>
              <a:pathLst>
                <a:path h="239499" w="812800">
                  <a:moveTo>
                    <a:pt x="52681" y="0"/>
                  </a:moveTo>
                  <a:lnTo>
                    <a:pt x="760119" y="0"/>
                  </a:lnTo>
                  <a:cubicBezTo>
                    <a:pt x="789214" y="0"/>
                    <a:pt x="812800" y="23586"/>
                    <a:pt x="812800" y="52681"/>
                  </a:cubicBezTo>
                  <a:lnTo>
                    <a:pt x="812800" y="186818"/>
                  </a:lnTo>
                  <a:cubicBezTo>
                    <a:pt x="812800" y="215913"/>
                    <a:pt x="789214" y="239499"/>
                    <a:pt x="760119" y="239499"/>
                  </a:cubicBezTo>
                  <a:lnTo>
                    <a:pt x="52681" y="239499"/>
                  </a:lnTo>
                  <a:cubicBezTo>
                    <a:pt x="23586" y="239499"/>
                    <a:pt x="0" y="215913"/>
                    <a:pt x="0" y="186818"/>
                  </a:cubicBezTo>
                  <a:lnTo>
                    <a:pt x="0" y="52681"/>
                  </a:lnTo>
                  <a:cubicBezTo>
                    <a:pt x="0" y="23586"/>
                    <a:pt x="23586" y="0"/>
                    <a:pt x="52681" y="0"/>
                  </a:cubicBez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277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Recompute from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Scratch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39965" y="4873041"/>
            <a:ext cx="6725262" cy="324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9"/>
              </a:lnSpc>
            </a:pP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•LLM inference is computationally expensive — every query recomputes from scratch</a:t>
            </a:r>
          </a:p>
          <a:p>
            <a:pPr algn="just">
              <a:lnSpc>
                <a:spcPts val="2859"/>
              </a:lnSpc>
            </a:pPr>
          </a:p>
          <a:p>
            <a:pPr algn="just">
              <a:lnSpc>
                <a:spcPts val="2859"/>
              </a:lnSpc>
            </a:pP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•Semantic caching is the field's proposed fix: reuse a stored response for a similar new query</a:t>
            </a:r>
          </a:p>
          <a:p>
            <a:pPr algn="just">
              <a:lnSpc>
                <a:spcPts val="2859"/>
              </a:lnSpc>
            </a:pPr>
          </a:p>
          <a:p>
            <a:pPr algn="just">
              <a:lnSpc>
                <a:spcPts val="2859"/>
              </a:lnSpc>
            </a:pP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•It is frequently marketed as a green-computing technique</a:t>
            </a:r>
          </a:p>
          <a:p>
            <a:pPr algn="just">
              <a:lnSpc>
                <a:spcPts val="285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717989" y="1312049"/>
            <a:ext cx="4130651" cy="59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5"/>
              </a:lnSpc>
            </a:pPr>
            <a:r>
              <a:rPr lang="en-US" b="true" sz="4701" spc="-61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The Problem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2984504" y="5568358"/>
            <a:ext cx="0" cy="694657"/>
          </a:xfrm>
          <a:prstGeom prst="line">
            <a:avLst/>
          </a:prstGeom>
          <a:ln cap="flat" w="123825">
            <a:solidFill>
              <a:srgbClr val="569B9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3386084" y="6377311"/>
            <a:ext cx="3055288" cy="680756"/>
          </a:xfrm>
          <a:prstGeom prst="line">
            <a:avLst/>
          </a:prstGeom>
          <a:ln cap="flat" w="66675">
            <a:solidFill>
              <a:srgbClr val="569B9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0711221" y="7369159"/>
            <a:ext cx="5051831" cy="75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i="true">
                <a:solidFill>
                  <a:srgbClr val="569B9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Semantic caching decides reuse by meaning, not exact text match</a:t>
            </a:r>
          </a:p>
          <a:p>
            <a:pPr algn="ctr">
              <a:lnSpc>
                <a:spcPts val="980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5328990" y="542826"/>
            <a:ext cx="868123" cy="86812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6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522601" y="739229"/>
            <a:ext cx="477924" cy="475317"/>
          </a:xfrm>
          <a:custGeom>
            <a:avLst/>
            <a:gdLst/>
            <a:ahLst/>
            <a:cxnLst/>
            <a:rect r="r" b="b" t="t" l="l"/>
            <a:pathLst>
              <a:path h="475317" w="477924">
                <a:moveTo>
                  <a:pt x="0" y="0"/>
                </a:moveTo>
                <a:lnTo>
                  <a:pt x="477924" y="0"/>
                </a:lnTo>
                <a:lnTo>
                  <a:pt x="477924" y="475317"/>
                </a:lnTo>
                <a:lnTo>
                  <a:pt x="0" y="4753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296598" y="4144654"/>
            <a:ext cx="7375813" cy="4236721"/>
            <a:chOff x="0" y="0"/>
            <a:chExt cx="1942601" cy="11158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42601" cy="1115844"/>
            </a:xfrm>
            <a:custGeom>
              <a:avLst/>
              <a:gdLst/>
              <a:ahLst/>
              <a:cxnLst/>
              <a:rect r="r" b="b" t="t" l="l"/>
              <a:pathLst>
                <a:path h="1115844" w="1942601">
                  <a:moveTo>
                    <a:pt x="31489" y="0"/>
                  </a:moveTo>
                  <a:lnTo>
                    <a:pt x="1911112" y="0"/>
                  </a:lnTo>
                  <a:cubicBezTo>
                    <a:pt x="1928503" y="0"/>
                    <a:pt x="1942601" y="14098"/>
                    <a:pt x="1942601" y="31489"/>
                  </a:cubicBezTo>
                  <a:lnTo>
                    <a:pt x="1942601" y="1084355"/>
                  </a:lnTo>
                  <a:cubicBezTo>
                    <a:pt x="1942601" y="1101746"/>
                    <a:pt x="1928503" y="1115844"/>
                    <a:pt x="1911112" y="1115844"/>
                  </a:cubicBezTo>
                  <a:lnTo>
                    <a:pt x="31489" y="1115844"/>
                  </a:lnTo>
                  <a:cubicBezTo>
                    <a:pt x="14098" y="1115844"/>
                    <a:pt x="0" y="1101746"/>
                    <a:pt x="0" y="1084355"/>
                  </a:cubicBezTo>
                  <a:lnTo>
                    <a:pt x="0" y="31489"/>
                  </a:lnTo>
                  <a:cubicBezTo>
                    <a:pt x="0" y="14098"/>
                    <a:pt x="14098" y="0"/>
                    <a:pt x="3148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942601" cy="1153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818601"/>
            <a:ext cx="3070293" cy="2164525"/>
            <a:chOff x="0" y="0"/>
            <a:chExt cx="808637" cy="570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8637" cy="570081"/>
            </a:xfrm>
            <a:custGeom>
              <a:avLst/>
              <a:gdLst/>
              <a:ahLst/>
              <a:cxnLst/>
              <a:rect r="r" b="b" t="t" l="l"/>
              <a:pathLst>
                <a:path h="570081" w="808637">
                  <a:moveTo>
                    <a:pt x="75647" y="0"/>
                  </a:moveTo>
                  <a:lnTo>
                    <a:pt x="732990" y="0"/>
                  </a:lnTo>
                  <a:cubicBezTo>
                    <a:pt x="774769" y="0"/>
                    <a:pt x="808637" y="33868"/>
                    <a:pt x="808637" y="75647"/>
                  </a:cubicBezTo>
                  <a:lnTo>
                    <a:pt x="808637" y="494434"/>
                  </a:lnTo>
                  <a:cubicBezTo>
                    <a:pt x="808637" y="536212"/>
                    <a:pt x="774769" y="570081"/>
                    <a:pt x="732990" y="570081"/>
                  </a:cubicBezTo>
                  <a:lnTo>
                    <a:pt x="75647" y="570081"/>
                  </a:lnTo>
                  <a:cubicBezTo>
                    <a:pt x="33868" y="570081"/>
                    <a:pt x="0" y="536212"/>
                    <a:pt x="0" y="494434"/>
                  </a:cubicBezTo>
                  <a:lnTo>
                    <a:pt x="0" y="75647"/>
                  </a:lnTo>
                  <a:cubicBezTo>
                    <a:pt x="0" y="33868"/>
                    <a:pt x="33868" y="0"/>
                    <a:pt x="75647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08637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05905" y="6818601"/>
            <a:ext cx="3322261" cy="2164525"/>
            <a:chOff x="0" y="0"/>
            <a:chExt cx="874999" cy="5700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4999" cy="570081"/>
            </a:xfrm>
            <a:custGeom>
              <a:avLst/>
              <a:gdLst/>
              <a:ahLst/>
              <a:cxnLst/>
              <a:rect r="r" b="b" t="t" l="l"/>
              <a:pathLst>
                <a:path h="570081" w="874999">
                  <a:moveTo>
                    <a:pt x="69909" y="0"/>
                  </a:moveTo>
                  <a:lnTo>
                    <a:pt x="805089" y="0"/>
                  </a:lnTo>
                  <a:cubicBezTo>
                    <a:pt x="843699" y="0"/>
                    <a:pt x="874999" y="31300"/>
                    <a:pt x="874999" y="69909"/>
                  </a:cubicBezTo>
                  <a:lnTo>
                    <a:pt x="874999" y="500171"/>
                  </a:lnTo>
                  <a:cubicBezTo>
                    <a:pt x="874999" y="538781"/>
                    <a:pt x="843699" y="570081"/>
                    <a:pt x="805089" y="570081"/>
                  </a:cubicBezTo>
                  <a:lnTo>
                    <a:pt x="69909" y="570081"/>
                  </a:lnTo>
                  <a:cubicBezTo>
                    <a:pt x="31300" y="570081"/>
                    <a:pt x="0" y="538781"/>
                    <a:pt x="0" y="500171"/>
                  </a:cubicBezTo>
                  <a:lnTo>
                    <a:pt x="0" y="69909"/>
                  </a:lnTo>
                  <a:cubicBezTo>
                    <a:pt x="0" y="31300"/>
                    <a:pt x="31300" y="0"/>
                    <a:pt x="69909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74999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916891">
            <a:off x="14077794" y="1904754"/>
            <a:ext cx="5281054" cy="5988824"/>
          </a:xfrm>
          <a:custGeom>
            <a:avLst/>
            <a:gdLst/>
            <a:ahLst/>
            <a:cxnLst/>
            <a:rect r="r" b="b" t="t" l="l"/>
            <a:pathLst>
              <a:path h="5988824" w="5281054">
                <a:moveTo>
                  <a:pt x="0" y="0"/>
                </a:moveTo>
                <a:lnTo>
                  <a:pt x="5281053" y="0"/>
                </a:lnTo>
                <a:lnTo>
                  <a:pt x="5281053" y="5988823"/>
                </a:lnTo>
                <a:lnTo>
                  <a:pt x="0" y="5988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967019" y="6822836"/>
            <a:ext cx="3161918" cy="2164525"/>
            <a:chOff x="0" y="0"/>
            <a:chExt cx="832769" cy="5700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2769" cy="570081"/>
            </a:xfrm>
            <a:custGeom>
              <a:avLst/>
              <a:gdLst/>
              <a:ahLst/>
              <a:cxnLst/>
              <a:rect r="r" b="b" t="t" l="l"/>
              <a:pathLst>
                <a:path h="570081" w="832769">
                  <a:moveTo>
                    <a:pt x="73455" y="0"/>
                  </a:moveTo>
                  <a:lnTo>
                    <a:pt x="759314" y="0"/>
                  </a:lnTo>
                  <a:cubicBezTo>
                    <a:pt x="799882" y="0"/>
                    <a:pt x="832769" y="32887"/>
                    <a:pt x="832769" y="73455"/>
                  </a:cubicBezTo>
                  <a:lnTo>
                    <a:pt x="832769" y="496626"/>
                  </a:lnTo>
                  <a:cubicBezTo>
                    <a:pt x="832769" y="516107"/>
                    <a:pt x="825030" y="534791"/>
                    <a:pt x="811254" y="548566"/>
                  </a:cubicBezTo>
                  <a:cubicBezTo>
                    <a:pt x="797479" y="562342"/>
                    <a:pt x="778795" y="570081"/>
                    <a:pt x="759314" y="570081"/>
                  </a:cubicBezTo>
                  <a:lnTo>
                    <a:pt x="73455" y="570081"/>
                  </a:lnTo>
                  <a:cubicBezTo>
                    <a:pt x="32887" y="570081"/>
                    <a:pt x="0" y="537194"/>
                    <a:pt x="0" y="496626"/>
                  </a:cubicBezTo>
                  <a:lnTo>
                    <a:pt x="0" y="73455"/>
                  </a:lnTo>
                  <a:cubicBezTo>
                    <a:pt x="0" y="32887"/>
                    <a:pt x="32887" y="0"/>
                    <a:pt x="73455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32769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34387" y="7464064"/>
            <a:ext cx="858920" cy="7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699" spc="-284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23570" y="7454537"/>
            <a:ext cx="88693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-285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2551" y="8323879"/>
            <a:ext cx="2184686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records identified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018354" y="8337848"/>
            <a:ext cx="1297362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screened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7294" y="8323879"/>
            <a:ext cx="2041367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papers included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21425" y="2480840"/>
            <a:ext cx="14213482" cy="208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sz="5501" spc="-71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 review has consolidated this literature — until now</a:t>
            </a:r>
          </a:p>
          <a:p>
            <a:pPr algn="l" marL="0" indent="0" lvl="0">
              <a:lnSpc>
                <a:spcPts val="588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512551" y="4398616"/>
            <a:ext cx="10976375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•No published review consolidates this fast-growing literature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•This review: systematic search, five databases, three rounds, 87 candidate records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3250" y="1600617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50"/>
                </a:lnTo>
                <a:lnTo>
                  <a:pt x="0" y="478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21425" y="1664632"/>
            <a:ext cx="7745594" cy="93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999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THE GAP &amp; OUR CONTRIBUTION</a:t>
            </a:r>
          </a:p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2967641" y="6818601"/>
            <a:ext cx="3299355" cy="2164525"/>
            <a:chOff x="0" y="0"/>
            <a:chExt cx="868966" cy="5700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8966" cy="570081"/>
            </a:xfrm>
            <a:custGeom>
              <a:avLst/>
              <a:gdLst/>
              <a:ahLst/>
              <a:cxnLst/>
              <a:rect r="r" b="b" t="t" l="l"/>
              <a:pathLst>
                <a:path h="570081" w="868966">
                  <a:moveTo>
                    <a:pt x="70395" y="0"/>
                  </a:moveTo>
                  <a:lnTo>
                    <a:pt x="798571" y="0"/>
                  </a:lnTo>
                  <a:cubicBezTo>
                    <a:pt x="817241" y="0"/>
                    <a:pt x="835146" y="7417"/>
                    <a:pt x="848348" y="20618"/>
                  </a:cubicBezTo>
                  <a:cubicBezTo>
                    <a:pt x="861549" y="33820"/>
                    <a:pt x="868966" y="51725"/>
                    <a:pt x="868966" y="70395"/>
                  </a:cubicBezTo>
                  <a:lnTo>
                    <a:pt x="868966" y="499686"/>
                  </a:lnTo>
                  <a:cubicBezTo>
                    <a:pt x="868966" y="518356"/>
                    <a:pt x="861549" y="536261"/>
                    <a:pt x="848348" y="549462"/>
                  </a:cubicBezTo>
                  <a:cubicBezTo>
                    <a:pt x="835146" y="562664"/>
                    <a:pt x="817241" y="570081"/>
                    <a:pt x="798571" y="570081"/>
                  </a:cubicBezTo>
                  <a:lnTo>
                    <a:pt x="70395" y="570081"/>
                  </a:lnTo>
                  <a:cubicBezTo>
                    <a:pt x="51725" y="570081"/>
                    <a:pt x="33820" y="562664"/>
                    <a:pt x="20618" y="549462"/>
                  </a:cubicBezTo>
                  <a:cubicBezTo>
                    <a:pt x="7417" y="536261"/>
                    <a:pt x="0" y="518356"/>
                    <a:pt x="0" y="499686"/>
                  </a:cubicBezTo>
                  <a:lnTo>
                    <a:pt x="0" y="70395"/>
                  </a:lnTo>
                  <a:cubicBezTo>
                    <a:pt x="0" y="51725"/>
                    <a:pt x="7417" y="33820"/>
                    <a:pt x="20618" y="20618"/>
                  </a:cubicBezTo>
                  <a:cubicBezTo>
                    <a:pt x="33820" y="7417"/>
                    <a:pt x="51725" y="0"/>
                    <a:pt x="70395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68966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099993" y="8310862"/>
            <a:ext cx="1034651" cy="74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2282" spc="-15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clusters</a:t>
            </a:r>
          </a:p>
          <a:p>
            <a:pPr algn="l">
              <a:lnSpc>
                <a:spcPts val="2966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5488029" y="9544464"/>
            <a:ext cx="6957978" cy="51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b="true" sz="2199" i="true">
                <a:solidFill>
                  <a:srgbClr val="377272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We also found something the field has not measured.</a:t>
            </a:r>
          </a:p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104513" y="7454537"/>
            <a:ext cx="88693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-285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95586" y="7454537"/>
            <a:ext cx="443465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-285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067413"/>
            <a:ext cx="4537173" cy="41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9"/>
              </a:lnSpc>
            </a:pPr>
            <a:r>
              <a:rPr lang="en-US" sz="5010" spc="-65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Three</a:t>
            </a:r>
          </a:p>
          <a:p>
            <a:pPr algn="l">
              <a:lnSpc>
                <a:spcPts val="4609"/>
              </a:lnSpc>
            </a:pPr>
            <a:r>
              <a:rPr lang="en-US" sz="5010" spc="-65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search</a:t>
            </a:r>
          </a:p>
          <a:p>
            <a:pPr algn="l">
              <a:lnSpc>
                <a:spcPts val="4609"/>
              </a:lnSpc>
            </a:pPr>
            <a:r>
              <a:rPr lang="en-US" sz="5010" spc="-65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rounds,</a:t>
            </a:r>
          </a:p>
          <a:p>
            <a:pPr algn="l">
              <a:lnSpc>
                <a:spcPts val="4609"/>
              </a:lnSpc>
            </a:pPr>
            <a:r>
              <a:rPr lang="en-US" sz="5010" spc="-65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full-text screening,</a:t>
            </a:r>
          </a:p>
          <a:p>
            <a:pPr algn="l">
              <a:lnSpc>
                <a:spcPts val="4609"/>
              </a:lnSpc>
            </a:pPr>
            <a:r>
              <a:rPr lang="en-US" sz="5010" spc="-65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five cluster</a:t>
            </a:r>
          </a:p>
          <a:p>
            <a:pPr algn="l" marL="0" indent="0" lvl="0">
              <a:lnSpc>
                <a:spcPts val="460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2574972" y="-6068502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6" y="0"/>
                </a:lnTo>
                <a:lnTo>
                  <a:pt x="9368656" y="9799084"/>
                </a:lnTo>
                <a:lnTo>
                  <a:pt x="0" y="979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11237" y="-3214394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6" y="0"/>
                </a:lnTo>
                <a:lnTo>
                  <a:pt x="9368656" y="9799084"/>
                </a:lnTo>
                <a:lnTo>
                  <a:pt x="0" y="979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3250" y="719199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50"/>
                </a:lnTo>
                <a:lnTo>
                  <a:pt x="0" y="478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489929" y="896498"/>
            <a:ext cx="13677960" cy="9231100"/>
            <a:chOff x="0" y="0"/>
            <a:chExt cx="1793454" cy="12103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3454" cy="1210382"/>
            </a:xfrm>
            <a:custGeom>
              <a:avLst/>
              <a:gdLst/>
              <a:ahLst/>
              <a:cxnLst/>
              <a:rect r="r" b="b" t="t" l="l"/>
              <a:pathLst>
                <a:path h="1210382" w="1793454">
                  <a:moveTo>
                    <a:pt x="13018" y="0"/>
                  </a:moveTo>
                  <a:lnTo>
                    <a:pt x="1780436" y="0"/>
                  </a:lnTo>
                  <a:cubicBezTo>
                    <a:pt x="1787626" y="0"/>
                    <a:pt x="1793454" y="5829"/>
                    <a:pt x="1793454" y="13018"/>
                  </a:cubicBezTo>
                  <a:lnTo>
                    <a:pt x="1793454" y="1197364"/>
                  </a:lnTo>
                  <a:cubicBezTo>
                    <a:pt x="1793454" y="1204553"/>
                    <a:pt x="1787626" y="1210382"/>
                    <a:pt x="1780436" y="1210382"/>
                  </a:cubicBezTo>
                  <a:lnTo>
                    <a:pt x="13018" y="1210382"/>
                  </a:lnTo>
                  <a:cubicBezTo>
                    <a:pt x="5829" y="1210382"/>
                    <a:pt x="0" y="1204553"/>
                    <a:pt x="0" y="1197364"/>
                  </a:cubicBezTo>
                  <a:lnTo>
                    <a:pt x="0" y="13018"/>
                  </a:lnTo>
                  <a:cubicBezTo>
                    <a:pt x="0" y="5829"/>
                    <a:pt x="5829" y="0"/>
                    <a:pt x="13018" y="0"/>
                  </a:cubicBezTo>
                  <a:close/>
                </a:path>
              </a:pathLst>
            </a:custGeom>
            <a:blipFill>
              <a:blip r:embed="rId6"/>
              <a:stretch>
                <a:fillRect l="-9990" t="0" r="-999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1602" y="751700"/>
            <a:ext cx="4131369" cy="93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999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METHODOLOGY</a:t>
            </a:r>
          </a:p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9769" y="1988311"/>
            <a:ext cx="8115300" cy="231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6501" spc="-84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Quality matters as much as inclusion</a:t>
            </a:r>
          </a:p>
          <a:p>
            <a:pPr algn="l" marL="0" indent="0" lvl="0">
              <a:lnSpc>
                <a:spcPts val="598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58876" y="1027449"/>
            <a:ext cx="5738909" cy="93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999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QUALITY ASSESSMENT</a:t>
            </a:r>
          </a:p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4400706"/>
            <a:ext cx="7490224" cy="4857594"/>
            <a:chOff x="0" y="0"/>
            <a:chExt cx="1972734" cy="12793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2734" cy="1279366"/>
            </a:xfrm>
            <a:custGeom>
              <a:avLst/>
              <a:gdLst/>
              <a:ahLst/>
              <a:cxnLst/>
              <a:rect r="r" b="b" t="t" l="l"/>
              <a:pathLst>
                <a:path h="1279366" w="1972734">
                  <a:moveTo>
                    <a:pt x="31008" y="0"/>
                  </a:moveTo>
                  <a:lnTo>
                    <a:pt x="1941726" y="0"/>
                  </a:lnTo>
                  <a:cubicBezTo>
                    <a:pt x="1958851" y="0"/>
                    <a:pt x="1972734" y="13883"/>
                    <a:pt x="1972734" y="31008"/>
                  </a:cubicBezTo>
                  <a:lnTo>
                    <a:pt x="1972734" y="1248358"/>
                  </a:lnTo>
                  <a:cubicBezTo>
                    <a:pt x="1972734" y="1265484"/>
                    <a:pt x="1958851" y="1279366"/>
                    <a:pt x="1941726" y="1279366"/>
                  </a:cubicBezTo>
                  <a:lnTo>
                    <a:pt x="31008" y="1279366"/>
                  </a:lnTo>
                  <a:cubicBezTo>
                    <a:pt x="13883" y="1279366"/>
                    <a:pt x="0" y="1265484"/>
                    <a:pt x="0" y="1248358"/>
                  </a:cubicBezTo>
                  <a:lnTo>
                    <a:pt x="0" y="31008"/>
                  </a:lnTo>
                  <a:cubicBezTo>
                    <a:pt x="0" y="13883"/>
                    <a:pt x="13883" y="0"/>
                    <a:pt x="31008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72734" cy="1317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69076" y="1721623"/>
            <a:ext cx="7490224" cy="7536677"/>
            <a:chOff x="0" y="0"/>
            <a:chExt cx="1972734" cy="19849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2734" cy="1984968"/>
            </a:xfrm>
            <a:custGeom>
              <a:avLst/>
              <a:gdLst/>
              <a:ahLst/>
              <a:cxnLst/>
              <a:rect r="r" b="b" t="t" l="l"/>
              <a:pathLst>
                <a:path h="1984968" w="1972734">
                  <a:moveTo>
                    <a:pt x="31008" y="0"/>
                  </a:moveTo>
                  <a:lnTo>
                    <a:pt x="1941726" y="0"/>
                  </a:lnTo>
                  <a:cubicBezTo>
                    <a:pt x="1958851" y="0"/>
                    <a:pt x="1972734" y="13883"/>
                    <a:pt x="1972734" y="31008"/>
                  </a:cubicBezTo>
                  <a:lnTo>
                    <a:pt x="1972734" y="1953960"/>
                  </a:lnTo>
                  <a:cubicBezTo>
                    <a:pt x="1972734" y="1971086"/>
                    <a:pt x="1958851" y="1984968"/>
                    <a:pt x="1941726" y="1984968"/>
                  </a:cubicBezTo>
                  <a:lnTo>
                    <a:pt x="31008" y="1984968"/>
                  </a:lnTo>
                  <a:cubicBezTo>
                    <a:pt x="13883" y="1984968"/>
                    <a:pt x="0" y="1971086"/>
                    <a:pt x="0" y="1953960"/>
                  </a:cubicBezTo>
                  <a:lnTo>
                    <a:pt x="0" y="31008"/>
                  </a:lnTo>
                  <a:cubicBezTo>
                    <a:pt x="0" y="13883"/>
                    <a:pt x="13883" y="0"/>
                    <a:pt x="31008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2734" cy="2023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14150" y="4805795"/>
            <a:ext cx="5983635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•A four-dimension rubric scored every included paper: venue rigor, evaluation depth, reproducibility, limitation transparency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49769" y="7375631"/>
            <a:ext cx="6648086" cy="1235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b="true" sz="2699" i="true">
                <a:solidFill>
                  <a:srgbClr val="2E6D6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Low tier stays in the corpus.</a:t>
            </a:r>
          </a:p>
          <a:p>
            <a:pPr algn="ctr">
              <a:lnSpc>
                <a:spcPts val="3509"/>
              </a:lnSpc>
            </a:pPr>
            <a:r>
              <a:rPr lang="en-US" b="true" sz="2699" i="true">
                <a:solidFill>
                  <a:srgbClr val="2E6D6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It just carries less weight.</a:t>
            </a:r>
          </a:p>
          <a:p>
            <a:pPr algn="l">
              <a:lnSpc>
                <a:spcPts val="2859"/>
              </a:lnSpc>
            </a:pP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25947" y="1608948"/>
            <a:ext cx="7367508" cy="7638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07697" y="721629"/>
            <a:ext cx="8115300" cy="243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10000" spc="-130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Five Clusters</a:t>
            </a:r>
          </a:p>
          <a:p>
            <a:pPr algn="l" marL="0" indent="0" lvl="0">
              <a:lnSpc>
                <a:spcPts val="920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9534144" y="1973080"/>
            <a:ext cx="6837330" cy="5249997"/>
            <a:chOff x="0" y="0"/>
            <a:chExt cx="1800778" cy="1382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778" cy="1382715"/>
            </a:xfrm>
            <a:custGeom>
              <a:avLst/>
              <a:gdLst/>
              <a:ahLst/>
              <a:cxnLst/>
              <a:rect r="r" b="b" t="t" l="l"/>
              <a:pathLst>
                <a:path h="1382715" w="1800778">
                  <a:moveTo>
                    <a:pt x="33969" y="0"/>
                  </a:moveTo>
                  <a:lnTo>
                    <a:pt x="1766809" y="0"/>
                  </a:lnTo>
                  <a:cubicBezTo>
                    <a:pt x="1785570" y="0"/>
                    <a:pt x="1800778" y="15208"/>
                    <a:pt x="1800778" y="33969"/>
                  </a:cubicBezTo>
                  <a:lnTo>
                    <a:pt x="1800778" y="1348746"/>
                  </a:lnTo>
                  <a:cubicBezTo>
                    <a:pt x="1800778" y="1357755"/>
                    <a:pt x="1797199" y="1366395"/>
                    <a:pt x="1790829" y="1372766"/>
                  </a:cubicBezTo>
                  <a:cubicBezTo>
                    <a:pt x="1784459" y="1379136"/>
                    <a:pt x="1775818" y="1382715"/>
                    <a:pt x="1766809" y="1382715"/>
                  </a:cubicBezTo>
                  <a:lnTo>
                    <a:pt x="33969" y="1382715"/>
                  </a:lnTo>
                  <a:cubicBezTo>
                    <a:pt x="24960" y="1382715"/>
                    <a:pt x="16320" y="1379136"/>
                    <a:pt x="9949" y="1372766"/>
                  </a:cubicBezTo>
                  <a:cubicBezTo>
                    <a:pt x="3579" y="1366395"/>
                    <a:pt x="0" y="1357755"/>
                    <a:pt x="0" y="1348746"/>
                  </a:cubicBezTo>
                  <a:lnTo>
                    <a:pt x="0" y="33969"/>
                  </a:lnTo>
                  <a:cubicBezTo>
                    <a:pt x="0" y="24960"/>
                    <a:pt x="3579" y="16320"/>
                    <a:pt x="9949" y="9949"/>
                  </a:cubicBezTo>
                  <a:cubicBezTo>
                    <a:pt x="16320" y="3579"/>
                    <a:pt x="24960" y="0"/>
                    <a:pt x="33969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00778" cy="1420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64171"/>
            <a:ext cx="7490224" cy="7094129"/>
            <a:chOff x="0" y="0"/>
            <a:chExt cx="1972734" cy="1868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2734" cy="1868413"/>
            </a:xfrm>
            <a:custGeom>
              <a:avLst/>
              <a:gdLst/>
              <a:ahLst/>
              <a:cxnLst/>
              <a:rect r="r" b="b" t="t" l="l"/>
              <a:pathLst>
                <a:path h="1868413" w="1972734">
                  <a:moveTo>
                    <a:pt x="31008" y="0"/>
                  </a:moveTo>
                  <a:lnTo>
                    <a:pt x="1941726" y="0"/>
                  </a:lnTo>
                  <a:cubicBezTo>
                    <a:pt x="1958851" y="0"/>
                    <a:pt x="1972734" y="13883"/>
                    <a:pt x="1972734" y="31008"/>
                  </a:cubicBezTo>
                  <a:lnTo>
                    <a:pt x="1972734" y="1837404"/>
                  </a:lnTo>
                  <a:cubicBezTo>
                    <a:pt x="1972734" y="1854530"/>
                    <a:pt x="1958851" y="1868413"/>
                    <a:pt x="1941726" y="1868413"/>
                  </a:cubicBezTo>
                  <a:lnTo>
                    <a:pt x="31008" y="1868413"/>
                  </a:lnTo>
                  <a:cubicBezTo>
                    <a:pt x="13883" y="1868413"/>
                    <a:pt x="0" y="1854530"/>
                    <a:pt x="0" y="1837404"/>
                  </a:cubicBezTo>
                  <a:lnTo>
                    <a:pt x="0" y="31008"/>
                  </a:lnTo>
                  <a:cubicBezTo>
                    <a:pt x="0" y="13883"/>
                    <a:pt x="13883" y="0"/>
                    <a:pt x="31008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72734" cy="1906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18544" y="2186443"/>
            <a:ext cx="5468531" cy="478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67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sz="246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-Core LLM Semantic Caching</a:t>
            </a:r>
          </a:p>
          <a:p>
            <a:pPr algn="l">
              <a:lnSpc>
                <a:spcPts val="3207"/>
              </a:lnSpc>
            </a:pPr>
          </a:p>
          <a:p>
            <a:pPr algn="l">
              <a:lnSpc>
                <a:spcPts val="3207"/>
              </a:lnSpc>
            </a:pPr>
            <a:r>
              <a:rPr lang="en-US" sz="2467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B </a:t>
            </a:r>
            <a:r>
              <a:rPr lang="en-US" sz="246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-Adaptive Threshold / Eviction / Verification</a:t>
            </a:r>
          </a:p>
          <a:p>
            <a:pPr algn="l">
              <a:lnSpc>
                <a:spcPts val="3207"/>
              </a:lnSpc>
            </a:pPr>
          </a:p>
          <a:p>
            <a:pPr algn="l">
              <a:lnSpc>
                <a:spcPts val="3207"/>
              </a:lnSpc>
            </a:pPr>
            <a:r>
              <a:rPr lang="en-US" sz="2467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C </a:t>
            </a:r>
            <a:r>
              <a:rPr lang="en-US" sz="246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-Security &amp; Reliability of Caching</a:t>
            </a:r>
          </a:p>
          <a:p>
            <a:pPr algn="l">
              <a:lnSpc>
                <a:spcPts val="3207"/>
              </a:lnSpc>
            </a:pPr>
          </a:p>
          <a:p>
            <a:pPr algn="l">
              <a:lnSpc>
                <a:spcPts val="3089"/>
              </a:lnSpc>
            </a:pPr>
            <a:r>
              <a:rPr lang="en-US" sz="2376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D</a:t>
            </a:r>
            <a:r>
              <a:rPr lang="en-US" sz="2376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 -Agentic / Domain-Specific Caching</a:t>
            </a:r>
          </a:p>
          <a:p>
            <a:pPr algn="l">
              <a:lnSpc>
                <a:spcPts val="3207"/>
              </a:lnSpc>
            </a:pPr>
          </a:p>
          <a:p>
            <a:pPr algn="l">
              <a:lnSpc>
                <a:spcPts val="3338"/>
              </a:lnSpc>
            </a:pPr>
            <a:r>
              <a:rPr lang="en-US" sz="2568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sz="2568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 -</a:t>
            </a:r>
            <a:r>
              <a:rPr lang="en-US" sz="2568">
                <a:solidFill>
                  <a:srgbClr val="569B9B"/>
                </a:solidFill>
                <a:latin typeface="Aileron"/>
                <a:ea typeface="Aileron"/>
                <a:cs typeface="Aileron"/>
                <a:sym typeface="Aileron"/>
              </a:rPr>
              <a:t>KV-Cache / Prefix-Level Caching (contrast evidence — not core)</a:t>
            </a:r>
          </a:p>
          <a:p>
            <a:pPr algn="l">
              <a:lnSpc>
                <a:spcPts val="261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207697" y="7457440"/>
            <a:ext cx="7694231" cy="180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Cluster E is kept separate on purpose — </a:t>
            </a: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it reuses internal model state within a single generation, a structurally different mechanism from cross-query semantic caching. It is retained as contrast evidence, not core evidence.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35807" y="1012012"/>
            <a:ext cx="3558715" cy="48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39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TAXONOMY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7457" y="2315781"/>
            <a:ext cx="7300206" cy="7216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84413">
            <a:off x="13920256" y="3243808"/>
            <a:ext cx="5404669" cy="6129006"/>
          </a:xfrm>
          <a:custGeom>
            <a:avLst/>
            <a:gdLst/>
            <a:ahLst/>
            <a:cxnLst/>
            <a:rect r="r" b="b" t="t" l="l"/>
            <a:pathLst>
              <a:path h="6129006" w="5404669">
                <a:moveTo>
                  <a:pt x="0" y="0"/>
                </a:moveTo>
                <a:lnTo>
                  <a:pt x="5404669" y="0"/>
                </a:lnTo>
                <a:lnTo>
                  <a:pt x="5404669" y="6129006"/>
                </a:lnTo>
                <a:lnTo>
                  <a:pt x="0" y="612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68121"/>
            <a:ext cx="16230600" cy="184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3"/>
              </a:lnSpc>
            </a:pPr>
            <a:r>
              <a:rPr lang="en-US" b="true" sz="7601" spc="-98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Five Patterns That Recur</a:t>
            </a:r>
          </a:p>
          <a:p>
            <a:pPr algn="ctr" marL="0" indent="0" lvl="0">
              <a:lnSpc>
                <a:spcPts val="699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414150" y="4726839"/>
            <a:ext cx="4091682" cy="2164525"/>
            <a:chOff x="0" y="0"/>
            <a:chExt cx="1077645" cy="570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7645" cy="570081"/>
            </a:xfrm>
            <a:custGeom>
              <a:avLst/>
              <a:gdLst/>
              <a:ahLst/>
              <a:cxnLst/>
              <a:rect r="r" b="b" t="t" l="l"/>
              <a:pathLst>
                <a:path h="570081" w="1077645">
                  <a:moveTo>
                    <a:pt x="56763" y="0"/>
                  </a:moveTo>
                  <a:lnTo>
                    <a:pt x="1020881" y="0"/>
                  </a:lnTo>
                  <a:cubicBezTo>
                    <a:pt x="1052231" y="0"/>
                    <a:pt x="1077645" y="25414"/>
                    <a:pt x="1077645" y="56763"/>
                  </a:cubicBezTo>
                  <a:lnTo>
                    <a:pt x="1077645" y="513317"/>
                  </a:lnTo>
                  <a:cubicBezTo>
                    <a:pt x="1077645" y="528372"/>
                    <a:pt x="1071664" y="542810"/>
                    <a:pt x="1061019" y="553455"/>
                  </a:cubicBezTo>
                  <a:cubicBezTo>
                    <a:pt x="1050374" y="564100"/>
                    <a:pt x="1035936" y="570081"/>
                    <a:pt x="1020881" y="570081"/>
                  </a:cubicBezTo>
                  <a:lnTo>
                    <a:pt x="56763" y="570081"/>
                  </a:lnTo>
                  <a:cubicBezTo>
                    <a:pt x="41709" y="570081"/>
                    <a:pt x="27271" y="564100"/>
                    <a:pt x="16626" y="553455"/>
                  </a:cubicBezTo>
                  <a:cubicBezTo>
                    <a:pt x="5980" y="542810"/>
                    <a:pt x="0" y="528372"/>
                    <a:pt x="0" y="513317"/>
                  </a:cubicBezTo>
                  <a:lnTo>
                    <a:pt x="0" y="56763"/>
                  </a:lnTo>
                  <a:cubicBezTo>
                    <a:pt x="0" y="41709"/>
                    <a:pt x="5980" y="27271"/>
                    <a:pt x="16626" y="16626"/>
                  </a:cubicBezTo>
                  <a:cubicBezTo>
                    <a:pt x="27271" y="5980"/>
                    <a:pt x="41709" y="0"/>
                    <a:pt x="56763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77645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81322" y="4685530"/>
            <a:ext cx="4353039" cy="2164525"/>
            <a:chOff x="0" y="0"/>
            <a:chExt cx="1146479" cy="5700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6479" cy="570081"/>
            </a:xfrm>
            <a:custGeom>
              <a:avLst/>
              <a:gdLst/>
              <a:ahLst/>
              <a:cxnLst/>
              <a:rect r="r" b="b" t="t" l="l"/>
              <a:pathLst>
                <a:path h="570081" w="1146479">
                  <a:moveTo>
                    <a:pt x="53355" y="0"/>
                  </a:moveTo>
                  <a:lnTo>
                    <a:pt x="1093124" y="0"/>
                  </a:lnTo>
                  <a:cubicBezTo>
                    <a:pt x="1107275" y="0"/>
                    <a:pt x="1120846" y="5621"/>
                    <a:pt x="1130852" y="15627"/>
                  </a:cubicBezTo>
                  <a:cubicBezTo>
                    <a:pt x="1140858" y="25633"/>
                    <a:pt x="1146479" y="39205"/>
                    <a:pt x="1146479" y="53355"/>
                  </a:cubicBezTo>
                  <a:lnTo>
                    <a:pt x="1146479" y="516725"/>
                  </a:lnTo>
                  <a:cubicBezTo>
                    <a:pt x="1146479" y="530876"/>
                    <a:pt x="1140858" y="544447"/>
                    <a:pt x="1130852" y="554453"/>
                  </a:cubicBezTo>
                  <a:cubicBezTo>
                    <a:pt x="1120846" y="564459"/>
                    <a:pt x="1107275" y="570081"/>
                    <a:pt x="1093124" y="570081"/>
                  </a:cubicBezTo>
                  <a:lnTo>
                    <a:pt x="53355" y="570081"/>
                  </a:lnTo>
                  <a:cubicBezTo>
                    <a:pt x="39205" y="570081"/>
                    <a:pt x="25633" y="564459"/>
                    <a:pt x="15627" y="554453"/>
                  </a:cubicBezTo>
                  <a:cubicBezTo>
                    <a:pt x="5621" y="544447"/>
                    <a:pt x="0" y="530876"/>
                    <a:pt x="0" y="516725"/>
                  </a:cubicBezTo>
                  <a:lnTo>
                    <a:pt x="0" y="53355"/>
                  </a:lnTo>
                  <a:cubicBezTo>
                    <a:pt x="0" y="39205"/>
                    <a:pt x="5621" y="25633"/>
                    <a:pt x="15627" y="15627"/>
                  </a:cubicBezTo>
                  <a:cubicBezTo>
                    <a:pt x="25633" y="5621"/>
                    <a:pt x="39205" y="0"/>
                    <a:pt x="53355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46479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52725" y="4726839"/>
            <a:ext cx="4215602" cy="2164525"/>
            <a:chOff x="0" y="0"/>
            <a:chExt cx="1110282" cy="5700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0282" cy="570081"/>
            </a:xfrm>
            <a:custGeom>
              <a:avLst/>
              <a:gdLst/>
              <a:ahLst/>
              <a:cxnLst/>
              <a:rect r="r" b="b" t="t" l="l"/>
              <a:pathLst>
                <a:path h="570081" w="1110282">
                  <a:moveTo>
                    <a:pt x="55095" y="0"/>
                  </a:moveTo>
                  <a:lnTo>
                    <a:pt x="1055187" y="0"/>
                  </a:lnTo>
                  <a:cubicBezTo>
                    <a:pt x="1069799" y="0"/>
                    <a:pt x="1083813" y="5805"/>
                    <a:pt x="1094145" y="16137"/>
                  </a:cubicBezTo>
                  <a:cubicBezTo>
                    <a:pt x="1104477" y="26469"/>
                    <a:pt x="1110282" y="40483"/>
                    <a:pt x="1110282" y="55095"/>
                  </a:cubicBezTo>
                  <a:lnTo>
                    <a:pt x="1110282" y="514986"/>
                  </a:lnTo>
                  <a:cubicBezTo>
                    <a:pt x="1110282" y="529598"/>
                    <a:pt x="1104477" y="543611"/>
                    <a:pt x="1094145" y="553944"/>
                  </a:cubicBezTo>
                  <a:cubicBezTo>
                    <a:pt x="1083813" y="564276"/>
                    <a:pt x="1069799" y="570081"/>
                    <a:pt x="1055187" y="570081"/>
                  </a:cubicBezTo>
                  <a:lnTo>
                    <a:pt x="55095" y="570081"/>
                  </a:lnTo>
                  <a:cubicBezTo>
                    <a:pt x="40483" y="570081"/>
                    <a:pt x="26469" y="564276"/>
                    <a:pt x="16137" y="553944"/>
                  </a:cubicBezTo>
                  <a:cubicBezTo>
                    <a:pt x="5805" y="543611"/>
                    <a:pt x="0" y="529598"/>
                    <a:pt x="0" y="514986"/>
                  </a:cubicBezTo>
                  <a:lnTo>
                    <a:pt x="0" y="55095"/>
                  </a:lnTo>
                  <a:cubicBezTo>
                    <a:pt x="0" y="40483"/>
                    <a:pt x="5805" y="26469"/>
                    <a:pt x="16137" y="16137"/>
                  </a:cubicBezTo>
                  <a:cubicBezTo>
                    <a:pt x="26469" y="5805"/>
                    <a:pt x="40483" y="0"/>
                    <a:pt x="55095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10282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3632" y="5171989"/>
            <a:ext cx="341503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150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27599" y="5130679"/>
            <a:ext cx="36331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150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4912" y="5171989"/>
            <a:ext cx="351846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150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3276" y="5790051"/>
            <a:ext cx="3150376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The similarity threshold is unreliable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027599" y="5698444"/>
            <a:ext cx="3351607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Caching stays blind to context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984912" y="5748742"/>
            <a:ext cx="3245788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Each fix improves one thing and leaves the next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8700" y="1077339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50"/>
                </a:lnTo>
                <a:lnTo>
                  <a:pt x="0" y="478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58876" y="1146314"/>
            <a:ext cx="7185309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999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CROSS-CUTTING SYNTHESIS</a:t>
            </a:r>
          </a:p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3541150" y="7751894"/>
            <a:ext cx="4719538" cy="2164525"/>
            <a:chOff x="0" y="0"/>
            <a:chExt cx="1243006" cy="5700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3006" cy="570081"/>
            </a:xfrm>
            <a:custGeom>
              <a:avLst/>
              <a:gdLst/>
              <a:ahLst/>
              <a:cxnLst/>
              <a:rect r="r" b="b" t="t" l="l"/>
              <a:pathLst>
                <a:path h="570081" w="1243006">
                  <a:moveTo>
                    <a:pt x="49212" y="0"/>
                  </a:moveTo>
                  <a:lnTo>
                    <a:pt x="1193794" y="0"/>
                  </a:lnTo>
                  <a:cubicBezTo>
                    <a:pt x="1220973" y="0"/>
                    <a:pt x="1243006" y="22033"/>
                    <a:pt x="1243006" y="49212"/>
                  </a:cubicBezTo>
                  <a:lnTo>
                    <a:pt x="1243006" y="520869"/>
                  </a:lnTo>
                  <a:cubicBezTo>
                    <a:pt x="1243006" y="548048"/>
                    <a:pt x="1220973" y="570081"/>
                    <a:pt x="1193794" y="570081"/>
                  </a:cubicBezTo>
                  <a:lnTo>
                    <a:pt x="49212" y="570081"/>
                  </a:lnTo>
                  <a:cubicBezTo>
                    <a:pt x="22033" y="570081"/>
                    <a:pt x="0" y="548048"/>
                    <a:pt x="0" y="520869"/>
                  </a:cubicBezTo>
                  <a:lnTo>
                    <a:pt x="0" y="49212"/>
                  </a:lnTo>
                  <a:cubicBezTo>
                    <a:pt x="0" y="22033"/>
                    <a:pt x="22033" y="0"/>
                    <a:pt x="49212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43006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084023" y="8015314"/>
            <a:ext cx="39390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150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 </a:t>
            </a:r>
            <a:r>
              <a:rPr lang="en-US" sz="3000" spc="-150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84023" y="8621077"/>
            <a:ext cx="3633792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Reliability fixes add unmeasured cost</a:t>
            </a:r>
          </a:p>
          <a:p>
            <a:pPr algn="l">
              <a:lnSpc>
                <a:spcPts val="2859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0" y="7608162"/>
            <a:ext cx="4719538" cy="2164525"/>
            <a:chOff x="0" y="0"/>
            <a:chExt cx="1243006" cy="5700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43006" cy="570081"/>
            </a:xfrm>
            <a:custGeom>
              <a:avLst/>
              <a:gdLst/>
              <a:ahLst/>
              <a:cxnLst/>
              <a:rect r="r" b="b" t="t" l="l"/>
              <a:pathLst>
                <a:path h="570081" w="1243006">
                  <a:moveTo>
                    <a:pt x="49212" y="0"/>
                  </a:moveTo>
                  <a:lnTo>
                    <a:pt x="1193794" y="0"/>
                  </a:lnTo>
                  <a:cubicBezTo>
                    <a:pt x="1220973" y="0"/>
                    <a:pt x="1243006" y="22033"/>
                    <a:pt x="1243006" y="49212"/>
                  </a:cubicBezTo>
                  <a:lnTo>
                    <a:pt x="1243006" y="520869"/>
                  </a:lnTo>
                  <a:cubicBezTo>
                    <a:pt x="1243006" y="548048"/>
                    <a:pt x="1220973" y="570081"/>
                    <a:pt x="1193794" y="570081"/>
                  </a:cubicBezTo>
                  <a:lnTo>
                    <a:pt x="49212" y="570081"/>
                  </a:lnTo>
                  <a:cubicBezTo>
                    <a:pt x="22033" y="570081"/>
                    <a:pt x="0" y="548048"/>
                    <a:pt x="0" y="520869"/>
                  </a:cubicBezTo>
                  <a:lnTo>
                    <a:pt x="0" y="49212"/>
                  </a:lnTo>
                  <a:cubicBezTo>
                    <a:pt x="0" y="22033"/>
                    <a:pt x="22033" y="0"/>
                    <a:pt x="49212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43006" cy="608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583194" y="8015314"/>
            <a:ext cx="39390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150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</a:t>
            </a:r>
            <a:r>
              <a:rPr lang="en-US" sz="3000" spc="-150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27851" y="8621077"/>
            <a:ext cx="3633792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Cached results going stale is understudied</a:t>
            </a:r>
          </a:p>
          <a:p>
            <a:pPr algn="l">
              <a:lnSpc>
                <a:spcPts val="28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51950" y="2637167"/>
            <a:ext cx="12584099" cy="215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8"/>
              </a:lnSpc>
            </a:pPr>
            <a:r>
              <a:rPr lang="en-US" sz="8900" spc="-115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CENTRAL FINDING</a:t>
            </a:r>
          </a:p>
          <a:p>
            <a:pPr algn="l" marL="0" indent="0" lvl="0">
              <a:lnSpc>
                <a:spcPts val="818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67963" y="4753903"/>
            <a:ext cx="13752073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299" b="true">
                <a:solidFill>
                  <a:srgbClr val="377272">
                    <a:alpha val="86667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Not one paper in this corpus measures the energy cost of semantic caching against the inference it replaces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67963" y="7431773"/>
            <a:ext cx="13752073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299" b="true">
                <a:solidFill>
                  <a:srgbClr val="377272">
                    <a:alpha val="86667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18 </a:t>
            </a:r>
            <a:r>
              <a:rPr lang="en-US" sz="3299">
                <a:solidFill>
                  <a:srgbClr val="377272">
                    <a:alpha val="86667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papers report comparable results.  </a:t>
            </a:r>
            <a:r>
              <a:rPr lang="en-US" sz="3299" b="true">
                <a:solidFill>
                  <a:srgbClr val="377272">
                    <a:alpha val="86667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0 </a:t>
            </a:r>
            <a:r>
              <a:rPr lang="en-US" sz="3299">
                <a:solidFill>
                  <a:srgbClr val="377272">
                    <a:alpha val="86667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report an energy figure.</a:t>
            </a:r>
          </a:p>
          <a:p>
            <a:pPr algn="ctr">
              <a:lnSpc>
                <a:spcPts val="42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95179" y="1097675"/>
            <a:ext cx="718530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39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THE GAP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4150" y="3422438"/>
            <a:ext cx="530436" cy="53043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14150" y="5443161"/>
            <a:ext cx="530436" cy="5304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1331" y="3552896"/>
            <a:ext cx="311200" cy="31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b="true" sz="2308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3276" y="5565477"/>
            <a:ext cx="311200" cy="31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b="true" sz="2308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14150" y="7126291"/>
            <a:ext cx="530436" cy="5304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163B4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31331" y="7238575"/>
            <a:ext cx="311200" cy="31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b="true" sz="2308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38378" y="8563923"/>
            <a:ext cx="311200" cy="31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b="true" sz="2308" spc="-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5063590" y="-1877456"/>
            <a:ext cx="4391419" cy="4979960"/>
          </a:xfrm>
          <a:custGeom>
            <a:avLst/>
            <a:gdLst/>
            <a:ahLst/>
            <a:cxnLst/>
            <a:rect r="r" b="b" t="t" l="l"/>
            <a:pathLst>
              <a:path h="4979960" w="4391419">
                <a:moveTo>
                  <a:pt x="0" y="0"/>
                </a:moveTo>
                <a:lnTo>
                  <a:pt x="4391420" y="0"/>
                </a:lnTo>
                <a:lnTo>
                  <a:pt x="4391420" y="4979960"/>
                </a:lnTo>
                <a:lnTo>
                  <a:pt x="0" y="497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58876" y="1816873"/>
            <a:ext cx="9686003" cy="164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9"/>
              </a:lnSpc>
            </a:pPr>
            <a:r>
              <a:rPr lang="en-US" sz="6401" spc="-83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Three Open </a:t>
            </a:r>
            <a:r>
              <a:rPr lang="en-US" sz="6401" spc="-83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Questions</a:t>
            </a:r>
          </a:p>
          <a:p>
            <a:pPr algn="l" marL="0" indent="0" lvl="0">
              <a:lnSpc>
                <a:spcPts val="6533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11668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58876" y="1146314"/>
            <a:ext cx="8579113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999" b="true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OPEN QUESTIONS FOR THE FIELD</a:t>
            </a:r>
          </a:p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-8892572">
            <a:off x="13687240" y="5089855"/>
            <a:ext cx="5702562" cy="6466823"/>
          </a:xfrm>
          <a:custGeom>
            <a:avLst/>
            <a:gdLst/>
            <a:ahLst/>
            <a:cxnLst/>
            <a:rect r="r" b="b" t="t" l="l"/>
            <a:pathLst>
              <a:path h="6466823" w="5702562">
                <a:moveTo>
                  <a:pt x="0" y="0"/>
                </a:moveTo>
                <a:lnTo>
                  <a:pt x="5702562" y="0"/>
                </a:lnTo>
                <a:lnTo>
                  <a:pt x="5702562" y="6466823"/>
                </a:lnTo>
                <a:lnTo>
                  <a:pt x="0" y="64668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314118">
            <a:off x="6135841" y="5904536"/>
            <a:ext cx="6016318" cy="6822629"/>
          </a:xfrm>
          <a:custGeom>
            <a:avLst/>
            <a:gdLst/>
            <a:ahLst/>
            <a:cxnLst/>
            <a:rect r="r" b="b" t="t" l="l"/>
            <a:pathLst>
              <a:path h="6822629" w="6016318">
                <a:moveTo>
                  <a:pt x="0" y="0"/>
                </a:moveTo>
                <a:lnTo>
                  <a:pt x="6016318" y="0"/>
                </a:lnTo>
                <a:lnTo>
                  <a:pt x="6016318" y="6822629"/>
                </a:lnTo>
                <a:lnTo>
                  <a:pt x="0" y="6822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267963" y="3324169"/>
            <a:ext cx="13752073" cy="163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377272">
                    <a:alpha val="86667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Under what workload and threshold conditions does query-level semantic caching produce a net energy saving, once embedding generation, vector search, and verification overhead are included in the accounting — not only the inference calls the cache avoids?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267963" y="5346534"/>
            <a:ext cx="1203411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377272">
                    <a:alpha val="86667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Is there a minimum cache hit rate below which semantic caching costs more energy than always performing direct inference?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67963" y="7097716"/>
            <a:ext cx="1169051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377272">
                    <a:alpha val="86667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Does a high cache hit rate reliably imply high net energy savings, or can the two diverge?</a:t>
            </a:r>
          </a:p>
          <a:p>
            <a:pPr algn="l">
              <a:lnSpc>
                <a:spcPts val="324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6825" y="2129148"/>
            <a:ext cx="14263754" cy="2022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5"/>
              </a:lnSpc>
            </a:pPr>
            <a:r>
              <a:rPr lang="en-US" b="true" sz="5701" spc="-74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We want to be upfront about our own limits</a:t>
            </a:r>
          </a:p>
          <a:p>
            <a:pPr algn="ctr">
              <a:lnSpc>
                <a:spcPts val="5245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6464325"/>
            <a:ext cx="4718407" cy="2049995"/>
            <a:chOff x="0" y="0"/>
            <a:chExt cx="1242708" cy="5399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2708" cy="539916"/>
            </a:xfrm>
            <a:custGeom>
              <a:avLst/>
              <a:gdLst/>
              <a:ahLst/>
              <a:cxnLst/>
              <a:rect r="r" b="b" t="t" l="l"/>
              <a:pathLst>
                <a:path h="539916" w="1242708">
                  <a:moveTo>
                    <a:pt x="164079" y="0"/>
                  </a:moveTo>
                  <a:lnTo>
                    <a:pt x="1078629" y="0"/>
                  </a:lnTo>
                  <a:cubicBezTo>
                    <a:pt x="1169247" y="0"/>
                    <a:pt x="1242708" y="73461"/>
                    <a:pt x="1242708" y="164079"/>
                  </a:cubicBezTo>
                  <a:lnTo>
                    <a:pt x="1242708" y="375837"/>
                  </a:lnTo>
                  <a:cubicBezTo>
                    <a:pt x="1242708" y="419354"/>
                    <a:pt x="1225421" y="461088"/>
                    <a:pt x="1194650" y="491859"/>
                  </a:cubicBezTo>
                  <a:cubicBezTo>
                    <a:pt x="1163880" y="522629"/>
                    <a:pt x="1122145" y="539916"/>
                    <a:pt x="1078629" y="539916"/>
                  </a:cubicBezTo>
                  <a:lnTo>
                    <a:pt x="164079" y="539916"/>
                  </a:lnTo>
                  <a:cubicBezTo>
                    <a:pt x="120563" y="539916"/>
                    <a:pt x="78828" y="522629"/>
                    <a:pt x="48058" y="491859"/>
                  </a:cubicBezTo>
                  <a:cubicBezTo>
                    <a:pt x="17287" y="461088"/>
                    <a:pt x="0" y="419354"/>
                    <a:pt x="0" y="375837"/>
                  </a:cubicBezTo>
                  <a:lnTo>
                    <a:pt x="0" y="164079"/>
                  </a:lnTo>
                  <a:cubicBezTo>
                    <a:pt x="0" y="120563"/>
                    <a:pt x="17287" y="78828"/>
                    <a:pt x="48058" y="48058"/>
                  </a:cubicBezTo>
                  <a:cubicBezTo>
                    <a:pt x="78828" y="17287"/>
                    <a:pt x="120563" y="0"/>
                    <a:pt x="164079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42708" cy="578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>
            <a:off x="3387903" y="4632174"/>
            <a:ext cx="11512193" cy="1832151"/>
          </a:xfrm>
          <a:custGeom>
            <a:avLst/>
            <a:gdLst/>
            <a:ahLst/>
            <a:cxnLst/>
            <a:rect r="r" b="b" t="t" l="l"/>
            <a:pathLst>
              <a:path h="1832151" w="11512193">
                <a:moveTo>
                  <a:pt x="0" y="1832151"/>
                </a:moveTo>
                <a:lnTo>
                  <a:pt x="0" y="228600"/>
                </a:lnTo>
                <a:cubicBezTo>
                  <a:pt x="0" y="167971"/>
                  <a:pt x="24085" y="109826"/>
                  <a:pt x="66955" y="66955"/>
                </a:cubicBezTo>
                <a:cubicBezTo>
                  <a:pt x="109827" y="24084"/>
                  <a:pt x="167972" y="0"/>
                  <a:pt x="228600" y="0"/>
                </a:cubicBezTo>
                <a:lnTo>
                  <a:pt x="11283594" y="0"/>
                </a:lnTo>
                <a:cubicBezTo>
                  <a:pt x="11409846" y="0"/>
                  <a:pt x="11512194" y="102347"/>
                  <a:pt x="11512194" y="228600"/>
                </a:cubicBezTo>
                <a:lnTo>
                  <a:pt x="11512194" y="1832151"/>
                </a:lnTo>
              </a:path>
            </a:pathLst>
          </a:custGeom>
          <a:ln cap="flat" w="28575">
            <a:solidFill>
              <a:srgbClr val="2E6D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784797" y="4151156"/>
            <a:ext cx="4718407" cy="966582"/>
            <a:chOff x="0" y="0"/>
            <a:chExt cx="1242708" cy="2545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2708" cy="254573"/>
            </a:xfrm>
            <a:custGeom>
              <a:avLst/>
              <a:gdLst/>
              <a:ahLst/>
              <a:cxnLst/>
              <a:rect r="r" b="b" t="t" l="l"/>
              <a:pathLst>
                <a:path h="254573" w="1242708">
                  <a:moveTo>
                    <a:pt x="127286" y="0"/>
                  </a:moveTo>
                  <a:lnTo>
                    <a:pt x="1115422" y="0"/>
                  </a:lnTo>
                  <a:cubicBezTo>
                    <a:pt x="1185720" y="0"/>
                    <a:pt x="1242708" y="56988"/>
                    <a:pt x="1242708" y="127286"/>
                  </a:cubicBezTo>
                  <a:lnTo>
                    <a:pt x="1242708" y="127286"/>
                  </a:lnTo>
                  <a:cubicBezTo>
                    <a:pt x="1242708" y="161045"/>
                    <a:pt x="1229297" y="193421"/>
                    <a:pt x="1205427" y="217292"/>
                  </a:cubicBezTo>
                  <a:cubicBezTo>
                    <a:pt x="1181556" y="241162"/>
                    <a:pt x="1149180" y="254573"/>
                    <a:pt x="1115422" y="254573"/>
                  </a:cubicBezTo>
                  <a:lnTo>
                    <a:pt x="127286" y="254573"/>
                  </a:lnTo>
                  <a:cubicBezTo>
                    <a:pt x="93528" y="254573"/>
                    <a:pt x="61152" y="241162"/>
                    <a:pt x="37281" y="217292"/>
                  </a:cubicBezTo>
                  <a:cubicBezTo>
                    <a:pt x="13410" y="193421"/>
                    <a:pt x="0" y="161045"/>
                    <a:pt x="0" y="127286"/>
                  </a:cubicBezTo>
                  <a:lnTo>
                    <a:pt x="0" y="127286"/>
                  </a:lnTo>
                  <a:cubicBezTo>
                    <a:pt x="0" y="93528"/>
                    <a:pt x="13410" y="61152"/>
                    <a:pt x="37281" y="37281"/>
                  </a:cubicBezTo>
                  <a:cubicBezTo>
                    <a:pt x="61152" y="13410"/>
                    <a:pt x="93528" y="0"/>
                    <a:pt x="1272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261">
                    <a:alpha val="100000"/>
                  </a:srgbClr>
                </a:gs>
                <a:gs pos="100000">
                  <a:srgbClr val="6F9F97">
                    <a:alpha val="100000"/>
                  </a:srgbClr>
                </a:gs>
              </a:gsLst>
              <a:lin ang="0"/>
            </a:gra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42708" cy="292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40893" y="6464325"/>
            <a:ext cx="4718407" cy="2049995"/>
            <a:chOff x="0" y="0"/>
            <a:chExt cx="1242708" cy="5399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2708" cy="539916"/>
            </a:xfrm>
            <a:custGeom>
              <a:avLst/>
              <a:gdLst/>
              <a:ahLst/>
              <a:cxnLst/>
              <a:rect r="r" b="b" t="t" l="l"/>
              <a:pathLst>
                <a:path h="539916" w="1242708">
                  <a:moveTo>
                    <a:pt x="164079" y="0"/>
                  </a:moveTo>
                  <a:lnTo>
                    <a:pt x="1078629" y="0"/>
                  </a:lnTo>
                  <a:cubicBezTo>
                    <a:pt x="1169247" y="0"/>
                    <a:pt x="1242708" y="73461"/>
                    <a:pt x="1242708" y="164079"/>
                  </a:cubicBezTo>
                  <a:lnTo>
                    <a:pt x="1242708" y="375837"/>
                  </a:lnTo>
                  <a:cubicBezTo>
                    <a:pt x="1242708" y="419354"/>
                    <a:pt x="1225421" y="461088"/>
                    <a:pt x="1194650" y="491859"/>
                  </a:cubicBezTo>
                  <a:cubicBezTo>
                    <a:pt x="1163880" y="522629"/>
                    <a:pt x="1122145" y="539916"/>
                    <a:pt x="1078629" y="539916"/>
                  </a:cubicBezTo>
                  <a:lnTo>
                    <a:pt x="164079" y="539916"/>
                  </a:lnTo>
                  <a:cubicBezTo>
                    <a:pt x="120563" y="539916"/>
                    <a:pt x="78828" y="522629"/>
                    <a:pt x="48058" y="491859"/>
                  </a:cubicBezTo>
                  <a:cubicBezTo>
                    <a:pt x="17287" y="461088"/>
                    <a:pt x="0" y="419354"/>
                    <a:pt x="0" y="375837"/>
                  </a:cubicBezTo>
                  <a:lnTo>
                    <a:pt x="0" y="164079"/>
                  </a:lnTo>
                  <a:cubicBezTo>
                    <a:pt x="0" y="120563"/>
                    <a:pt x="17287" y="78828"/>
                    <a:pt x="48058" y="48058"/>
                  </a:cubicBezTo>
                  <a:cubicBezTo>
                    <a:pt x="78828" y="17287"/>
                    <a:pt x="120563" y="0"/>
                    <a:pt x="164079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42708" cy="578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21425" y="6935606"/>
            <a:ext cx="4332957" cy="120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3100" spc="-155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Screening done without a second independent reviewer</a:t>
            </a:r>
          </a:p>
          <a:p>
            <a:pPr algn="l">
              <a:lnSpc>
                <a:spcPts val="3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685078" y="4390607"/>
            <a:ext cx="330725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 spc="-210">
                <a:solidFill>
                  <a:srgbClr val="EFF0E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LIMITATIONS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131941" y="7035825"/>
            <a:ext cx="3536311" cy="120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3100" spc="-155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Four papers with an unconfirmed venue</a:t>
            </a:r>
          </a:p>
          <a:p>
            <a:pPr algn="l">
              <a:lnSpc>
                <a:spcPts val="310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6613000" y="6608230"/>
            <a:ext cx="5061999" cy="2049995"/>
            <a:chOff x="0" y="0"/>
            <a:chExt cx="1333201" cy="5399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3201" cy="539916"/>
            </a:xfrm>
            <a:custGeom>
              <a:avLst/>
              <a:gdLst/>
              <a:ahLst/>
              <a:cxnLst/>
              <a:rect r="r" b="b" t="t" l="l"/>
              <a:pathLst>
                <a:path h="539916" w="1333201">
                  <a:moveTo>
                    <a:pt x="152942" y="0"/>
                  </a:moveTo>
                  <a:lnTo>
                    <a:pt x="1180260" y="0"/>
                  </a:lnTo>
                  <a:cubicBezTo>
                    <a:pt x="1220822" y="0"/>
                    <a:pt x="1259724" y="16113"/>
                    <a:pt x="1288406" y="44796"/>
                  </a:cubicBezTo>
                  <a:cubicBezTo>
                    <a:pt x="1317088" y="73478"/>
                    <a:pt x="1333201" y="112379"/>
                    <a:pt x="1333201" y="152942"/>
                  </a:cubicBezTo>
                  <a:lnTo>
                    <a:pt x="1333201" y="386974"/>
                  </a:lnTo>
                  <a:cubicBezTo>
                    <a:pt x="1333201" y="471442"/>
                    <a:pt x="1264727" y="539916"/>
                    <a:pt x="1180260" y="539916"/>
                  </a:cubicBezTo>
                  <a:lnTo>
                    <a:pt x="152942" y="539916"/>
                  </a:lnTo>
                  <a:cubicBezTo>
                    <a:pt x="68474" y="539916"/>
                    <a:pt x="0" y="471442"/>
                    <a:pt x="0" y="386974"/>
                  </a:cubicBezTo>
                  <a:lnTo>
                    <a:pt x="0" y="152942"/>
                  </a:lnTo>
                  <a:cubicBezTo>
                    <a:pt x="0" y="68474"/>
                    <a:pt x="68474" y="0"/>
                    <a:pt x="152942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3201" cy="578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234937" y="6840562"/>
            <a:ext cx="4207531" cy="159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3100" spc="-155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Search strategy reconstructed from screening records, not a preserved query log</a:t>
            </a:r>
          </a:p>
        </p:txBody>
      </p:sp>
      <p:sp>
        <p:nvSpPr>
          <p:cNvPr name="Freeform 21" id="21"/>
          <p:cNvSpPr/>
          <p:nvPr/>
        </p:nvSpPr>
        <p:spPr>
          <a:xfrm>
            <a:off x="9144000" y="5117738"/>
            <a:ext cx="0" cy="745246"/>
          </a:xfrm>
          <a:custGeom>
            <a:avLst/>
            <a:gdLst/>
            <a:ahLst/>
            <a:cxnLst/>
            <a:rect r="r" b="b" t="t" l="l"/>
            <a:pathLst>
              <a:path h="745246" w="0">
                <a:moveTo>
                  <a:pt x="0" y="745246"/>
                </a:moveTo>
                <a:lnTo>
                  <a:pt x="0" y="0"/>
                </a:lnTo>
              </a:path>
            </a:pathLst>
          </a:custGeom>
          <a:ln cap="flat" w="28575">
            <a:solidFill>
              <a:srgbClr val="2E6D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5175432" y="-1627480"/>
            <a:ext cx="5404669" cy="6129006"/>
          </a:xfrm>
          <a:custGeom>
            <a:avLst/>
            <a:gdLst/>
            <a:ahLst/>
            <a:cxnLst/>
            <a:rect r="r" b="b" t="t" l="l"/>
            <a:pathLst>
              <a:path h="6129006" w="5404669">
                <a:moveTo>
                  <a:pt x="0" y="0"/>
                </a:moveTo>
                <a:lnTo>
                  <a:pt x="5404669" y="0"/>
                </a:lnTo>
                <a:lnTo>
                  <a:pt x="5404669" y="6129006"/>
                </a:lnTo>
                <a:lnTo>
                  <a:pt x="0" y="6129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95179" y="1097675"/>
            <a:ext cx="718530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39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LIMITATIONS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19282" y="8849601"/>
            <a:ext cx="3038084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>
                <a:solidFill>
                  <a:srgbClr val="EFF0EA"/>
                </a:solidFill>
                <a:latin typeface="Aileron"/>
                <a:ea typeface="Aileron"/>
                <a:cs typeface="Aileron"/>
                <a:sym typeface="Aileron"/>
              </a:rPr>
              <a:t>Co - Founder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04630" y="8827931"/>
            <a:ext cx="3038084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>
                <a:solidFill>
                  <a:srgbClr val="EFF0EA"/>
                </a:solidFill>
                <a:latin typeface="Aileron"/>
                <a:ea typeface="Aileron"/>
                <a:cs typeface="Aileron"/>
                <a:sym typeface="Aileron"/>
              </a:rPr>
              <a:t>Marketing</a:t>
            </a:r>
            <a:r>
              <a:rPr lang="en-US" sz="2199" spc="-15">
                <a:solidFill>
                  <a:srgbClr val="EFF0EA"/>
                </a:solidFill>
                <a:latin typeface="Aileron"/>
                <a:ea typeface="Aileron"/>
                <a:cs typeface="Aileron"/>
                <a:sym typeface="Aileron"/>
              </a:rPr>
              <a:t> Manager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36368" y="8827931"/>
            <a:ext cx="3038084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15">
                <a:solidFill>
                  <a:srgbClr val="EFF0EA"/>
                </a:solidFill>
                <a:latin typeface="Aileron"/>
                <a:ea typeface="Aileron"/>
                <a:cs typeface="Aileron"/>
                <a:sym typeface="Aileron"/>
              </a:rPr>
              <a:t>CEO &amp; Founder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41195"/>
            <a:ext cx="8289095" cy="194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8001" spc="-104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CONCLUSION</a:t>
            </a:r>
          </a:p>
          <a:p>
            <a:pPr algn="l" marL="0" indent="0" lvl="0">
              <a:lnSpc>
                <a:spcPts val="73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14150" y="3496385"/>
            <a:ext cx="14847222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What we built — </a:t>
            </a: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A 66-paper corpus across five clusters, with a four-dimension quality rubric applied to every paper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1891703">
            <a:off x="-37173" y="7687835"/>
            <a:ext cx="5084419" cy="5765836"/>
          </a:xfrm>
          <a:custGeom>
            <a:avLst/>
            <a:gdLst/>
            <a:ahLst/>
            <a:cxnLst/>
            <a:rect r="r" b="b" t="t" l="l"/>
            <a:pathLst>
              <a:path h="5765836" w="5084419">
                <a:moveTo>
                  <a:pt x="0" y="0"/>
                </a:moveTo>
                <a:lnTo>
                  <a:pt x="5084419" y="0"/>
                </a:lnTo>
                <a:lnTo>
                  <a:pt x="5084419" y="5765836"/>
                </a:lnTo>
                <a:lnTo>
                  <a:pt x="0" y="57658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4150" y="4736869"/>
            <a:ext cx="14847222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What we found — </a:t>
            </a: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Five recurring patterns — no single paper states any of them alone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14150" y="5975754"/>
            <a:ext cx="14847222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What we're proposing — </a:t>
            </a: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Three open questions the field has left unanswered on energy cost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786077" y="7100096"/>
            <a:ext cx="12103367" cy="174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699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Not one paper in this corpus measures whether semantic caching actually saves energy.</a:t>
            </a:r>
          </a:p>
          <a:p>
            <a:pPr algn="ctr">
              <a:lnSpc>
                <a:spcPts val="3509"/>
              </a:lnSpc>
            </a:pPr>
            <a:r>
              <a:rPr lang="en-US" sz="2699" b="true">
                <a:solidFill>
                  <a:srgbClr val="2E6D6D"/>
                </a:solidFill>
                <a:latin typeface="Aileron Bold"/>
                <a:ea typeface="Aileron Bold"/>
                <a:cs typeface="Aileron Bold"/>
                <a:sym typeface="Aileron Bold"/>
              </a:rPr>
              <a:t>That's the gap we're leaving the field with.</a:t>
            </a:r>
          </a:p>
          <a:p>
            <a:pPr algn="ctr">
              <a:lnSpc>
                <a:spcPts val="350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14118">
            <a:off x="-2046524" y="3776605"/>
            <a:ext cx="7730547" cy="8766599"/>
          </a:xfrm>
          <a:custGeom>
            <a:avLst/>
            <a:gdLst/>
            <a:ahLst/>
            <a:cxnLst/>
            <a:rect r="r" b="b" t="t" l="l"/>
            <a:pathLst>
              <a:path h="8766599" w="7730547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62638">
            <a:off x="-2056903" y="5761004"/>
            <a:ext cx="7431557" cy="7772988"/>
          </a:xfrm>
          <a:custGeom>
            <a:avLst/>
            <a:gdLst/>
            <a:ahLst/>
            <a:cxnLst/>
            <a:rect r="r" b="b" t="t" l="l"/>
            <a:pathLst>
              <a:path h="7772988" w="7431557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291582">
            <a:off x="13155984" y="-1306306"/>
            <a:ext cx="5476897" cy="6210915"/>
          </a:xfrm>
          <a:custGeom>
            <a:avLst/>
            <a:gdLst/>
            <a:ahLst/>
            <a:cxnLst/>
            <a:rect r="r" b="b" t="t" l="l"/>
            <a:pathLst>
              <a:path h="6210915" w="5476897">
                <a:moveTo>
                  <a:pt x="0" y="0"/>
                </a:moveTo>
                <a:lnTo>
                  <a:pt x="5476898" y="0"/>
                </a:lnTo>
                <a:lnTo>
                  <a:pt x="5476898" y="6210915"/>
                </a:lnTo>
                <a:lnTo>
                  <a:pt x="0" y="6210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477954"/>
            <a:ext cx="11975624" cy="605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81"/>
              </a:lnSpc>
            </a:pPr>
            <a:r>
              <a:rPr lang="en-US" b="true" sz="25423" spc="-330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DAHSk3Q4trw</dc:identifier>
  <dcterms:modified xsi:type="dcterms:W3CDTF">2011-08-01T06:04:30Z</dcterms:modified>
  <cp:revision>1</cp:revision>
  <dc:title>Green Computing Final Presentation</dc:title>
</cp:coreProperties>
</file>